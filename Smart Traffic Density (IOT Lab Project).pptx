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7" y="3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mart Traffic Monitoring And Management System">
            <a:extLst>
              <a:ext uri="{FF2B5EF4-FFF2-40B4-BE49-F238E27FC236}">
                <a16:creationId xmlns:a16="http://schemas.microsoft.com/office/drawing/2014/main" id="{33C06A5B-EF1E-1D5A-E92B-65D5A3D2E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Google Shape;84;p13" descr="image.png"/>
          <p:cNvPicPr preferRelativeResize="0"/>
          <p:nvPr/>
        </p:nvPicPr>
        <p:blipFill rotWithShape="1">
          <a:blip r:embed="rId4">
            <a:alphaModFix amt="35000"/>
          </a:blip>
          <a:srcRect/>
          <a:stretch/>
        </p:blipFill>
        <p:spPr>
          <a:xfrm>
            <a:off x="-747760" y="-3724656"/>
            <a:ext cx="11998294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1666875"/>
            <a:ext cx="11581447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Poppins"/>
                <a:ea typeface="Poppins"/>
                <a:cs typeface="Poppins"/>
                <a:sym typeface="Poppins"/>
              </a:rPr>
              <a:t>Smart Traffic Density Control System</a:t>
            </a:r>
            <a:endParaRPr sz="18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876675"/>
            <a:ext cx="110301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IOT Lab Project</a:t>
            </a:r>
            <a:endParaRPr sz="2700"/>
          </a:p>
        </p:txBody>
      </p:sp>
      <p:sp>
        <p:nvSpPr>
          <p:cNvPr id="87" name="Google Shape;87;p13"/>
          <p:cNvSpPr txBox="1"/>
          <p:nvPr/>
        </p:nvSpPr>
        <p:spPr>
          <a:xfrm>
            <a:off x="5421249" y="5770141"/>
            <a:ext cx="499071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Sai Charan </a:t>
            </a:r>
            <a:r>
              <a:rPr lang="en-US" sz="1800" b="1" dirty="0" err="1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Gokha</a:t>
            </a:r>
            <a:r>
              <a:rPr lang="en-US" sz="1800" b="1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(123CS0168)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Anmol Jain (123CS0170)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Samkit</a:t>
            </a:r>
            <a:r>
              <a:rPr lang="en-US" sz="1800" b="1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 Jain (123CS0171)</a:t>
            </a:r>
            <a:endParaRPr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942B6-07A6-83A2-DF56-D4369849CC87}"/>
              </a:ext>
            </a:extLst>
          </p:cNvPr>
          <p:cNvSpPr txBox="1"/>
          <p:nvPr/>
        </p:nvSpPr>
        <p:spPr>
          <a:xfrm>
            <a:off x="1324737" y="5924029"/>
            <a:ext cx="61935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Group 19 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00325"/>
            <a:ext cx="527685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00325"/>
            <a:ext cx="527685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71550" y="2990850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A5B4FC"/>
                </a:solidFill>
                <a:latin typeface="Poppins"/>
                <a:ea typeface="Poppins"/>
                <a:cs typeface="Poppins"/>
                <a:sym typeface="Poppins"/>
              </a:rPr>
              <a:t>Our Goal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71550" y="3619500"/>
            <a:ext cx="449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To design a smart system that measures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real-time vehicle density</a:t>
            </a:r>
            <a:r>
              <a:rPr lang="en-US" sz="135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 multiple lanes. This provides an accurate, live picture of the traffic load, rather than just guessing with fixed timers.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2990850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A5B4FC"/>
                </a:solidFill>
                <a:latin typeface="Poppins"/>
                <a:ea typeface="Poppins"/>
                <a:cs typeface="Poppins"/>
                <a:sym typeface="Poppins"/>
              </a:rPr>
              <a:t>The Outcome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3619500"/>
            <a:ext cx="4495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live data is sent to a server via CoAP and visualized. It can then be used to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dynamically adjust traffic light timings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or recommend rerouting, drastically improving efficiency.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Our Solution: A Dynamic &amp; Smart System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66950"/>
            <a:ext cx="34226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2266950"/>
            <a:ext cx="34226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88225" y="2266950"/>
            <a:ext cx="3422600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1547157" y="3276600"/>
            <a:ext cx="149018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7D2FE"/>
                </a:solidFill>
                <a:latin typeface="Poppins"/>
                <a:ea typeface="Poppins"/>
                <a:cs typeface="Poppins"/>
                <a:sym typeface="Poppins"/>
              </a:rPr>
              <a:t>1. Sensing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76300" y="4048125"/>
            <a:ext cx="28320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Eight ultrasonic sensors (two per lane) are used to detect vehicles entering and exiting a defined road segment.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080724" y="3276600"/>
            <a:ext cx="203025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7D2FE"/>
                </a:solidFill>
                <a:latin typeface="Poppins"/>
                <a:ea typeface="Poppins"/>
                <a:cs typeface="Poppins"/>
                <a:sym typeface="Poppins"/>
              </a:rPr>
              <a:t>2. Processing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79900" y="4048125"/>
            <a:ext cx="2832000" cy="11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 ESP32 microcontroller processes sensor data to calculate the </a:t>
            </a:r>
            <a:r>
              <a:rPr lang="en-US" sz="14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true vehicle count (density)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for each of the four lanes.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979336" y="3276600"/>
            <a:ext cx="184023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7D2FE"/>
                </a:solidFill>
                <a:latin typeface="Poppins"/>
                <a:ea typeface="Poppins"/>
                <a:cs typeface="Poppins"/>
                <a:sym typeface="Poppins"/>
              </a:rPr>
              <a:t>3. Reporting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83500" y="4048125"/>
            <a:ext cx="2832000" cy="11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density data is sent via Wi-Fi using the lightweight </a:t>
            </a:r>
            <a:r>
              <a:rPr lang="en-US" sz="14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CoAP protocol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and visualized on a live web dashboard.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63650" y="25812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251" y="25812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29850" y="1125125"/>
            <a:ext cx="4629150" cy="51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94579" y="1995487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C7D2FE"/>
                </a:solidFill>
                <a:latin typeface="Poppins"/>
                <a:ea typeface="Poppins"/>
                <a:cs typeface="Poppins"/>
                <a:sym typeface="Poppins"/>
              </a:rPr>
              <a:t>ESP32-DevKitC v4</a:t>
            </a:r>
            <a:endParaRPr dirty="0"/>
          </a:p>
        </p:txBody>
      </p:sp>
      <p:sp>
        <p:nvSpPr>
          <p:cNvPr id="125" name="Google Shape;125;p16"/>
          <p:cNvSpPr txBox="1"/>
          <p:nvPr/>
        </p:nvSpPr>
        <p:spPr>
          <a:xfrm>
            <a:off x="581025" y="2452687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The "brain" of the project. Chosen for its powerful processor, built-in Wi-Fi, and ample GPIO pins to handle all 8 sensors.</a:t>
            </a:r>
            <a:endParaRPr dirty="0"/>
          </a:p>
        </p:txBody>
      </p:sp>
      <p:sp>
        <p:nvSpPr>
          <p:cNvPr id="126" name="Google Shape;126;p16"/>
          <p:cNvSpPr txBox="1"/>
          <p:nvPr/>
        </p:nvSpPr>
        <p:spPr>
          <a:xfrm>
            <a:off x="581025" y="3571875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7D2FE"/>
                </a:solidFill>
                <a:latin typeface="Poppins"/>
                <a:ea typeface="Poppins"/>
                <a:cs typeface="Poppins"/>
                <a:sym typeface="Poppins"/>
              </a:rPr>
              <a:t>HC-SR04 Ultrasonic Sensors (x8)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81025" y="4029075"/>
            <a:ext cx="52768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Used for distance measurement. They are low-cost, reliable, and provide the raw data for our density calculation.</a:t>
            </a:r>
            <a:endParaRPr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Technology Stack: Hardware</a:t>
            </a:r>
            <a:endParaRPr/>
          </a:p>
        </p:txBody>
      </p:sp>
      <p:pic>
        <p:nvPicPr>
          <p:cNvPr id="129" name="Google Shape;129;p16"/>
          <p:cNvPicPr preferRelativeResize="0"/>
          <p:nvPr/>
        </p:nvPicPr>
        <p:blipFill rotWithShape="1">
          <a:blip r:embed="rId5">
            <a:alphaModFix/>
          </a:blip>
          <a:srcRect r="7149"/>
          <a:stretch/>
        </p:blipFill>
        <p:spPr>
          <a:xfrm>
            <a:off x="7009124" y="1373975"/>
            <a:ext cx="4140324" cy="46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50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72878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7765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08146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2238375" y="1700200"/>
            <a:ext cx="2660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Arduino C++ (ESP32 Core)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2238375" y="2109787"/>
            <a:ext cx="69627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Used to program the microcontroller, read sensor data, and perform the density-counting logic.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2238375" y="2747950"/>
            <a:ext cx="2104500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CoAP  (coap-simple.h</a:t>
            </a:r>
            <a:r>
              <a:rPr lang="en-US" sz="1350" b="1" i="0" u="none" strike="noStrike" cap="none" dirty="0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2238363" y="3071574"/>
            <a:ext cx="81438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lightweight, low-power IoT protocol (runs on UDP) perfect for sending data from constrained devices like the ESP32.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2238375" y="4052887"/>
            <a:ext cx="17335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HTML, CSS, JavaScript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2238375" y="4462462"/>
            <a:ext cx="6562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Built the real-time monitoring dashboard to visualize the data being sent from the ESP32.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Technology Stack: Software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71737"/>
            <a:ext cx="527685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71737"/>
            <a:ext cx="5276850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971550" y="2862262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A5B4FC"/>
                </a:solidFill>
                <a:latin typeface="Poppins"/>
                <a:ea typeface="Poppins"/>
                <a:cs typeface="Poppins"/>
                <a:sym typeface="Poppins"/>
              </a:rPr>
              <a:t>The "In/Out" Method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971550" y="3490912"/>
            <a:ext cx="4495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single sensor only shows occupancy. We use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two sensors per lane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(Entrance and Exit) to track the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actual vehicle count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724650" y="2862262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A5B4FC"/>
                </a:solidFill>
                <a:latin typeface="Poppins"/>
                <a:ea typeface="Poppins"/>
                <a:cs typeface="Poppins"/>
                <a:sym typeface="Poppins"/>
              </a:rPr>
              <a:t>State Change Logic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724650" y="3490912"/>
            <a:ext cx="4495800" cy="12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Entrance Sensor (Free → Occupied):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`Vehicle_Count++`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Exit Sensor (Occupied → Free):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`Vehicle_Count--`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Core Logic: True Density Counting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38375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866775" y="2238375"/>
            <a:ext cx="4991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CoAP stands for </a:t>
            </a:r>
            <a:r>
              <a:rPr lang="en-US" sz="1350" b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Constrained Application Protocol.</a:t>
            </a:r>
            <a:endParaRPr b="1"/>
          </a:p>
        </p:txBody>
      </p:sp>
      <p:sp>
        <p:nvSpPr>
          <p:cNvPr id="164" name="Google Shape;164;p19"/>
          <p:cNvSpPr txBox="1"/>
          <p:nvPr/>
        </p:nvSpPr>
        <p:spPr>
          <a:xfrm>
            <a:off x="866775" y="2638425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is designed specifically for **IoT devices** (like our ESP32) that have limited processing power.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66775" y="3295650"/>
            <a:ext cx="4991100" cy="5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It runs on</a:t>
            </a:r>
            <a:r>
              <a:rPr lang="en-US" sz="14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4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UDP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not TCP, making it much faster, lighter, and more efficient than HTTP for sending small, frequent data packets.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866775" y="3952875"/>
            <a:ext cx="4991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This makes it a perfect choice for an "IoT Lab" project.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28650" y="2238375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18C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28650" y="2638425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18C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28650" y="3295650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18C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28650" y="3952875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18CF8"/>
                </a:solidFill>
                <a:latin typeface="Lato"/>
                <a:ea typeface="Lato"/>
                <a:cs typeface="Lato"/>
                <a:sym typeface="Lato"/>
              </a:rPr>
              <a:t>»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Why CoAP? (IOT Lab Focus)</a:t>
            </a:r>
            <a:endParaRPr/>
          </a:p>
        </p:txBody>
      </p:sp>
      <p:pic>
        <p:nvPicPr>
          <p:cNvPr id="172" name="Google Shape;172;p19"/>
          <p:cNvPicPr preferRelativeResize="0"/>
          <p:nvPr/>
        </p:nvPicPr>
        <p:blipFill rotWithShape="1">
          <a:blip r:embed="rId5">
            <a:alphaModFix/>
          </a:blip>
          <a:srcRect b="-8790"/>
          <a:stretch/>
        </p:blipFill>
        <p:spPr>
          <a:xfrm>
            <a:off x="6334125" y="1858525"/>
            <a:ext cx="5442252" cy="3626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8;p20">
            <a:extLst>
              <a:ext uri="{FF2B5EF4-FFF2-40B4-BE49-F238E27FC236}">
                <a16:creationId xmlns:a16="http://schemas.microsoft.com/office/drawing/2014/main" id="{C15D748D-40DD-CECC-A084-D6334B9D29B0}"/>
              </a:ext>
            </a:extLst>
          </p:cNvPr>
          <p:cNvSpPr/>
          <p:nvPr/>
        </p:nvSpPr>
        <p:spPr>
          <a:xfrm>
            <a:off x="4773706" y="1623715"/>
            <a:ext cx="6907305" cy="3288944"/>
          </a:xfrm>
          <a:prstGeom prst="roundRect">
            <a:avLst>
              <a:gd name="adj" fmla="val 3396"/>
            </a:avLst>
          </a:prstGeom>
          <a:solidFill>
            <a:srgbClr val="020617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/>
          <p:nvPr/>
        </p:nvSpPr>
        <p:spPr>
          <a:xfrm>
            <a:off x="428929" y="1594437"/>
            <a:ext cx="3623118" cy="3318222"/>
          </a:xfrm>
          <a:prstGeom prst="roundRect">
            <a:avLst>
              <a:gd name="adj" fmla="val 3396"/>
            </a:avLst>
          </a:prstGeom>
          <a:solidFill>
            <a:srgbClr val="020617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240235" y="2232469"/>
            <a:ext cx="2722165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{ "lane1_density": 2, "lane2_density": 6, "lane3_density": 1, "lane4_density": 0 }</a:t>
            </a:r>
            <a:endParaRPr dirty="0"/>
          </a:p>
        </p:txBody>
      </p:sp>
      <p:sp>
        <p:nvSpPr>
          <p:cNvPr id="180" name="Google Shape;180;p20"/>
          <p:cNvSpPr txBox="1"/>
          <p:nvPr/>
        </p:nvSpPr>
        <p:spPr>
          <a:xfrm>
            <a:off x="581025" y="5432606"/>
            <a:ext cx="3291424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ESP32 formats the density counts into this simple JSON string and sends it via CoAP every second.</a:t>
            </a:r>
            <a:endParaRPr dirty="0"/>
          </a:p>
        </p:txBody>
      </p:sp>
      <p:sp>
        <p:nvSpPr>
          <p:cNvPr id="181" name="Google Shape;181;p20"/>
          <p:cNvSpPr txBox="1"/>
          <p:nvPr/>
        </p:nvSpPr>
        <p:spPr>
          <a:xfrm>
            <a:off x="581025" y="581025"/>
            <a:ext cx="115814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The Data Payload (JSON)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C5593A-B891-79BA-2517-1ADCC5684A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127" b="3571"/>
          <a:stretch>
            <a:fillRect/>
          </a:stretch>
        </p:blipFill>
        <p:spPr>
          <a:xfrm>
            <a:off x="4863353" y="1714562"/>
            <a:ext cx="6622284" cy="30779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190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475350" y="160537"/>
            <a:ext cx="11241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The Live Dashboard</a:t>
            </a:r>
            <a:endParaRPr sz="1900"/>
          </a:p>
        </p:txBody>
      </p:sp>
      <p:sp>
        <p:nvSpPr>
          <p:cNvPr id="188" name="Google Shape;188;p21"/>
          <p:cNvSpPr txBox="1"/>
          <p:nvPr/>
        </p:nvSpPr>
        <p:spPr>
          <a:xfrm>
            <a:off x="5403400" y="245287"/>
            <a:ext cx="11241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7D2FE"/>
                </a:solidFill>
                <a:latin typeface="Poppins"/>
                <a:ea typeface="Poppins"/>
                <a:cs typeface="Poppins"/>
                <a:sym typeface="Poppins"/>
              </a:rPr>
              <a:t>Real-Time Visualization</a:t>
            </a:r>
            <a:endParaRPr/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3177" y="1036850"/>
            <a:ext cx="9280951" cy="551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305276" y="2276475"/>
            <a:ext cx="1158144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581025" y="4324350"/>
            <a:ext cx="11029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github.com/anmol0705/</a:t>
            </a:r>
            <a:r>
              <a:rPr lang="en-US" sz="1500" b="0" i="0" u="none" strike="noStrike" cap="none" dirty="0" err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SmartTraffic</a:t>
            </a:r>
            <a:r>
              <a:rPr lang="en-US" sz="1500" b="0" i="0" u="none" strike="noStrike" cap="none" dirty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-Density-Monitoring-System-COAP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534</Words>
  <Application>Microsoft Office PowerPoint</Application>
  <PresentationFormat>Widescreen</PresentationFormat>
  <Paragraphs>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Poppins</vt:lpstr>
      <vt:lpstr>Lato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Anmol Jain</cp:lastModifiedBy>
  <cp:revision>3</cp:revision>
  <dcterms:modified xsi:type="dcterms:W3CDTF">2025-11-17T04:09:58Z</dcterms:modified>
</cp:coreProperties>
</file>